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6bde3536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6bde3536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6bde3536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a6bde3536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6bde3536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a6bde3536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6bde35360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6bde35360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6bde35360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6bde35360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en.wikipedia.org/wiki/Mathematical_morphology" TargetMode="External"/><Relationship Id="rId4" Type="http://schemas.openxmlformats.org/officeDocument/2006/relationships/hyperlink" Target="https://en.wikipedia.org/wiki/Opening_(morphology)" TargetMode="External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drive.google.com/file/d/1Amp9iLFhC5y--f7vz_gKFUf5O1qshW4I/view" TargetMode="External"/><Relationship Id="rId4" Type="http://schemas.openxmlformats.org/officeDocument/2006/relationships/image" Target="../media/image7.jpg"/><Relationship Id="rId5" Type="http://schemas.openxmlformats.org/officeDocument/2006/relationships/hyperlink" Target="http://drive.google.com/file/d/1Yg7-Y2SiFyFM33iioC-aWCLd6v-2Xu8e/view" TargetMode="External"/><Relationship Id="rId6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rive.google.com/drive/folders/1pAisI_mfdfXrkEqK-8xU-gblRENLs85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Projet GPGPU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Automne 2025 ‑ GISTRE/SCIA S9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Objectif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Plugin GStreamer de séparation fond / objets mobiles dans des vidéos</a:t>
            </a:r>
            <a:br>
              <a:rPr lang="en"/>
            </a:br>
            <a:r>
              <a:rPr i="1" lang="en"/>
              <a:t>INPUT = flux vidéo (stabilisé) / OUTPUT = vidéo avec différences en rouge</a:t>
            </a:r>
            <a:endParaRPr i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Étape préliminaire dans de nombreuses chaînes de traitement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Beaucoup d’opération locales ⇒ Bon candidat pour une optimisation GPU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813531"/>
            <a:ext cx="9144002" cy="210253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0" y="4769725"/>
            <a:ext cx="2795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dk2"/>
                </a:solidFill>
              </a:rPr>
              <a:t>Frame t</a:t>
            </a:r>
            <a:endParaRPr i="1" sz="15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134600" y="4769725"/>
            <a:ext cx="2795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dk2"/>
                </a:solidFill>
              </a:rPr>
              <a:t>Frame t+1</a:t>
            </a:r>
            <a:endParaRPr i="1" sz="15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6424500" y="4769725"/>
            <a:ext cx="2795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dk2"/>
                </a:solidFill>
              </a:rPr>
              <a:t>Différence (t, t+1)</a:t>
            </a:r>
            <a:endParaRPr i="1"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 que vous devez savoir sur GStreamer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C’est pénible à faire fonctionner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C’est très efficace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Vous n’aurez qu’à regarder le contenu de la fonction</a:t>
            </a:r>
            <a:br>
              <a:rPr lang="en"/>
            </a:br>
            <a:r>
              <a:rPr lang="en" sz="16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6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compute_cu</a:t>
            </a:r>
            <a:r>
              <a:rPr lang="en" sz="16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60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ImageView</a:t>
            </a:r>
            <a:r>
              <a:rPr lang="en" sz="16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600">
                <a:solidFill>
                  <a:srgbClr val="4EC9B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rgb8</a:t>
            </a:r>
            <a:r>
              <a:rPr lang="en" sz="16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60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6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compute_cu</a:t>
            </a:r>
            <a:endParaRPr b="1">
              <a:highlight>
                <a:schemeClr val="lt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est appelée pour chaque nouvelle frame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/>
              <a:t> contient les données de la frame courante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Vous devez utiliser </a:t>
            </a:r>
            <a:r>
              <a:rPr b="1" lang="en"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/>
              <a:t> pour mettre à jour l’état interne de votre système</a:t>
            </a:r>
            <a:br>
              <a:rPr lang="en"/>
            </a:br>
            <a:r>
              <a:rPr i="1" lang="en"/>
              <a:t>→ variables statiques pour assurer une persistance entre frames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Vous devez modifier </a:t>
            </a:r>
            <a:r>
              <a:rPr b="1" lang="en"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/>
              <a:t> pour renvoyer la frame qui sera affichée ou sauvegardée (architecture “zero copy”)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1609825" y="3490025"/>
            <a:ext cx="1727450" cy="15969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50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Approche générale</a:t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311700" y="1648000"/>
            <a:ext cx="947400" cy="5727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Frame t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img data + t</a:t>
            </a:r>
            <a:endParaRPr b="0" i="1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3687900" y="2458325"/>
            <a:ext cx="1168200" cy="572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Background </a:t>
            </a:r>
            <a:r>
              <a:rPr lang="en"/>
              <a:t>image at </a:t>
            </a:r>
            <a:r>
              <a:rPr i="1" lang="en"/>
              <a:t>t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1672088" y="2416925"/>
            <a:ext cx="1602900" cy="655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Background estimation process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6497050" y="116775"/>
            <a:ext cx="528600" cy="2892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data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7168720" y="116775"/>
            <a:ext cx="528600" cy="289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data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7840400" y="116775"/>
            <a:ext cx="699000" cy="289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b="0" i="1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84;p16"/>
          <p:cNvCxnSpPr>
            <a:stCxn id="80" idx="3"/>
            <a:endCxn id="85" idx="1"/>
          </p:cNvCxnSpPr>
          <p:nvPr/>
        </p:nvCxnSpPr>
        <p:spPr>
          <a:xfrm>
            <a:off x="3274988" y="2744675"/>
            <a:ext cx="41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6" name="Google Shape;86;p16"/>
          <p:cNvSpPr txBox="1"/>
          <p:nvPr/>
        </p:nvSpPr>
        <p:spPr>
          <a:xfrm>
            <a:off x="1609850" y="3537600"/>
            <a:ext cx="172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Internal BEP state</a:t>
            </a:r>
            <a:endParaRPr b="1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1889450" y="4061250"/>
            <a:ext cx="1168200" cy="267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/>
              <a:t>Previous values…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16"/>
          <p:cNvCxnSpPr>
            <a:stCxn id="78" idx="3"/>
            <a:endCxn id="80" idx="1"/>
          </p:cNvCxnSpPr>
          <p:nvPr/>
        </p:nvCxnSpPr>
        <p:spPr>
          <a:xfrm>
            <a:off x="1259100" y="1934350"/>
            <a:ext cx="413100" cy="810300"/>
          </a:xfrm>
          <a:prstGeom prst="bentConnector3">
            <a:avLst>
              <a:gd fmla="val 4998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9" name="Google Shape;89;p16"/>
          <p:cNvCxnSpPr/>
          <p:nvPr/>
        </p:nvCxnSpPr>
        <p:spPr>
          <a:xfrm flipH="1" rot="-5400000">
            <a:off x="2390375" y="3279713"/>
            <a:ext cx="4176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0" name="Google Shape;90;p16"/>
          <p:cNvCxnSpPr/>
          <p:nvPr/>
        </p:nvCxnSpPr>
        <p:spPr>
          <a:xfrm rot="-5400000">
            <a:off x="2139100" y="3279713"/>
            <a:ext cx="4176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1" name="Google Shape;91;p16"/>
          <p:cNvSpPr/>
          <p:nvPr/>
        </p:nvSpPr>
        <p:spPr>
          <a:xfrm>
            <a:off x="7025638" y="1606600"/>
            <a:ext cx="1602900" cy="655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Mask cleaning process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7243000" y="2571750"/>
            <a:ext cx="1168200" cy="6555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Clean </a:t>
            </a:r>
            <a:r>
              <a:rPr lang="en"/>
              <a:t>change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m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ask at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7025638" y="3499813"/>
            <a:ext cx="1602900" cy="6555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Alerting</a:t>
            </a:r>
            <a:br>
              <a:rPr b="0" i="1" lang="en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b="0" i="1" sz="14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7243000" y="4427875"/>
            <a:ext cx="1168200" cy="655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Alert indicator (yes / no)</a:t>
            </a:r>
            <a:endParaRPr b="0" i="0" sz="14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16"/>
          <p:cNvCxnSpPr>
            <a:stCxn id="96" idx="3"/>
            <a:endCxn id="91" idx="1"/>
          </p:cNvCxnSpPr>
          <p:nvPr/>
        </p:nvCxnSpPr>
        <p:spPr>
          <a:xfrm>
            <a:off x="6498800" y="1934350"/>
            <a:ext cx="52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" name="Google Shape;97;p16"/>
          <p:cNvCxnSpPr>
            <a:stCxn id="91" idx="2"/>
            <a:endCxn id="92" idx="0"/>
          </p:cNvCxnSpPr>
          <p:nvPr/>
        </p:nvCxnSpPr>
        <p:spPr>
          <a:xfrm>
            <a:off x="7827088" y="2262100"/>
            <a:ext cx="0" cy="3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" name="Google Shape;98;p16"/>
          <p:cNvCxnSpPr>
            <a:stCxn id="92" idx="2"/>
            <a:endCxn id="93" idx="0"/>
          </p:cNvCxnSpPr>
          <p:nvPr/>
        </p:nvCxnSpPr>
        <p:spPr>
          <a:xfrm>
            <a:off x="7827100" y="3227250"/>
            <a:ext cx="0" cy="27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99" name="Google Shape;99;p16"/>
          <p:cNvCxnSpPr>
            <a:stCxn id="93" idx="2"/>
            <a:endCxn id="94" idx="0"/>
          </p:cNvCxnSpPr>
          <p:nvPr/>
        </p:nvCxnSpPr>
        <p:spPr>
          <a:xfrm>
            <a:off x="7827088" y="4155313"/>
            <a:ext cx="0" cy="27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100" name="Google Shape;100;p16"/>
          <p:cNvSpPr/>
          <p:nvPr/>
        </p:nvSpPr>
        <p:spPr>
          <a:xfrm>
            <a:off x="1889450" y="4390200"/>
            <a:ext cx="1168200" cy="267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/>
              <a:t>Random states</a:t>
            </a:r>
            <a:r>
              <a:rPr lang="en" sz="900"/>
              <a:t>…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1889450" y="4719150"/>
            <a:ext cx="1168200" cy="267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/>
              <a:t>Image statistics</a:t>
            </a:r>
            <a:r>
              <a:rPr lang="en" sz="900"/>
              <a:t>…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3740260" y="1606600"/>
            <a:ext cx="1063500" cy="655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n"/>
              <a:t>Difference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6"/>
          <p:cNvCxnSpPr>
            <a:stCxn id="78" idx="3"/>
            <a:endCxn id="102" idx="1"/>
          </p:cNvCxnSpPr>
          <p:nvPr/>
        </p:nvCxnSpPr>
        <p:spPr>
          <a:xfrm>
            <a:off x="1259100" y="1934350"/>
            <a:ext cx="2481300" cy="6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6"/>
          <p:cNvCxnSpPr>
            <a:stCxn id="79" idx="0"/>
            <a:endCxn id="102" idx="2"/>
          </p:cNvCxnSpPr>
          <p:nvPr/>
        </p:nvCxnSpPr>
        <p:spPr>
          <a:xfrm rot="-5400000">
            <a:off x="4174200" y="2359925"/>
            <a:ext cx="196200" cy="600"/>
          </a:xfrm>
          <a:prstGeom prst="curvedConnector3">
            <a:avLst>
              <a:gd fmla="val 5000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6"/>
          <p:cNvSpPr/>
          <p:nvPr/>
        </p:nvSpPr>
        <p:spPr>
          <a:xfrm>
            <a:off x="5330600" y="1648000"/>
            <a:ext cx="1168200" cy="572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Change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/>
              <a:t>mask</a:t>
            </a:r>
            <a:r>
              <a:rPr lang="en"/>
              <a:t> at </a:t>
            </a:r>
            <a:r>
              <a:rPr i="1" lang="en"/>
              <a:t>t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" name="Google Shape;105;p16"/>
          <p:cNvCxnSpPr>
            <a:stCxn id="102" idx="3"/>
            <a:endCxn id="96" idx="1"/>
          </p:cNvCxnSpPr>
          <p:nvPr/>
        </p:nvCxnSpPr>
        <p:spPr>
          <a:xfrm>
            <a:off x="4803760" y="1934350"/>
            <a:ext cx="52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/>
          <p:nvPr/>
        </p:nvSpPr>
        <p:spPr>
          <a:xfrm>
            <a:off x="1609825" y="3490025"/>
            <a:ext cx="1727450" cy="159690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7"/>
          <p:cNvSpPr txBox="1"/>
          <p:nvPr>
            <p:ph type="title"/>
          </p:nvPr>
        </p:nvSpPr>
        <p:spPr>
          <a:xfrm>
            <a:off x="311700" y="450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Approche générale</a:t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311700" y="1648000"/>
            <a:ext cx="947400" cy="5727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Frame t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img data + t</a:t>
            </a:r>
            <a:endParaRPr b="0" i="1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3687900" y="2458325"/>
            <a:ext cx="1168200" cy="572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Background </a:t>
            </a:r>
            <a:r>
              <a:rPr lang="en"/>
              <a:t>image at </a:t>
            </a:r>
            <a:r>
              <a:rPr i="1" lang="en"/>
              <a:t>t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1672088" y="2416925"/>
            <a:ext cx="1602900" cy="655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Background estimation process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6497050" y="116775"/>
            <a:ext cx="528600" cy="2892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data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7168720" y="116775"/>
            <a:ext cx="528600" cy="289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data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7840400" y="116775"/>
            <a:ext cx="699000" cy="289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b="0" i="1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17"/>
          <p:cNvCxnSpPr>
            <a:stCxn id="114" idx="3"/>
            <a:endCxn id="119" idx="1"/>
          </p:cNvCxnSpPr>
          <p:nvPr/>
        </p:nvCxnSpPr>
        <p:spPr>
          <a:xfrm>
            <a:off x="3274988" y="2744675"/>
            <a:ext cx="41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" name="Google Shape;120;p17"/>
          <p:cNvSpPr txBox="1"/>
          <p:nvPr/>
        </p:nvSpPr>
        <p:spPr>
          <a:xfrm>
            <a:off x="1609850" y="3537600"/>
            <a:ext cx="172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Internal BEP state</a:t>
            </a:r>
            <a:endParaRPr b="1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1889450" y="4061250"/>
            <a:ext cx="1168200" cy="267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/>
              <a:t>Previous values…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" name="Google Shape;122;p17"/>
          <p:cNvCxnSpPr>
            <a:stCxn id="112" idx="3"/>
            <a:endCxn id="114" idx="1"/>
          </p:cNvCxnSpPr>
          <p:nvPr/>
        </p:nvCxnSpPr>
        <p:spPr>
          <a:xfrm>
            <a:off x="1259100" y="1934350"/>
            <a:ext cx="413100" cy="810300"/>
          </a:xfrm>
          <a:prstGeom prst="bentConnector3">
            <a:avLst>
              <a:gd fmla="val 4998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" name="Google Shape;123;p17"/>
          <p:cNvCxnSpPr/>
          <p:nvPr/>
        </p:nvCxnSpPr>
        <p:spPr>
          <a:xfrm flipH="1" rot="-5400000">
            <a:off x="2390375" y="3279713"/>
            <a:ext cx="4176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" name="Google Shape;124;p17"/>
          <p:cNvCxnSpPr/>
          <p:nvPr/>
        </p:nvCxnSpPr>
        <p:spPr>
          <a:xfrm rot="-5400000">
            <a:off x="2139100" y="3279713"/>
            <a:ext cx="4176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5" name="Google Shape;125;p17"/>
          <p:cNvSpPr/>
          <p:nvPr/>
        </p:nvSpPr>
        <p:spPr>
          <a:xfrm>
            <a:off x="7025638" y="1606600"/>
            <a:ext cx="1602900" cy="655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Mask cleaning process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7243000" y="2571750"/>
            <a:ext cx="1168200" cy="6555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Clean </a:t>
            </a:r>
            <a:r>
              <a:rPr lang="en"/>
              <a:t>change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m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ask at </a:t>
            </a: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7025638" y="3499813"/>
            <a:ext cx="1602900" cy="6555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Alerting</a:t>
            </a:r>
            <a:br>
              <a:rPr b="0" i="1" lang="en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b="0" i="1" sz="14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7243000" y="4427875"/>
            <a:ext cx="1168200" cy="655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Alert indicator (yes / no)</a:t>
            </a:r>
            <a:endParaRPr b="0" i="0" sz="14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" name="Google Shape;129;p17"/>
          <p:cNvCxnSpPr>
            <a:stCxn id="130" idx="3"/>
            <a:endCxn id="125" idx="1"/>
          </p:cNvCxnSpPr>
          <p:nvPr/>
        </p:nvCxnSpPr>
        <p:spPr>
          <a:xfrm>
            <a:off x="6498800" y="1934350"/>
            <a:ext cx="52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" name="Google Shape;131;p17"/>
          <p:cNvCxnSpPr>
            <a:stCxn id="125" idx="2"/>
            <a:endCxn id="126" idx="0"/>
          </p:cNvCxnSpPr>
          <p:nvPr/>
        </p:nvCxnSpPr>
        <p:spPr>
          <a:xfrm>
            <a:off x="7827088" y="2262100"/>
            <a:ext cx="0" cy="3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" name="Google Shape;132;p17"/>
          <p:cNvCxnSpPr>
            <a:stCxn id="126" idx="2"/>
            <a:endCxn id="127" idx="0"/>
          </p:cNvCxnSpPr>
          <p:nvPr/>
        </p:nvCxnSpPr>
        <p:spPr>
          <a:xfrm>
            <a:off x="7827100" y="3227250"/>
            <a:ext cx="0" cy="27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133" name="Google Shape;133;p17"/>
          <p:cNvCxnSpPr>
            <a:stCxn id="127" idx="2"/>
            <a:endCxn id="128" idx="0"/>
          </p:cNvCxnSpPr>
          <p:nvPr/>
        </p:nvCxnSpPr>
        <p:spPr>
          <a:xfrm>
            <a:off x="7827088" y="4155313"/>
            <a:ext cx="0" cy="27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134" name="Google Shape;134;p17"/>
          <p:cNvSpPr/>
          <p:nvPr/>
        </p:nvSpPr>
        <p:spPr>
          <a:xfrm>
            <a:off x="1889450" y="4390200"/>
            <a:ext cx="1168200" cy="267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/>
              <a:t>Random states…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1889450" y="4719150"/>
            <a:ext cx="1168200" cy="267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/>
              <a:t>Image statistics…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3740260" y="1606600"/>
            <a:ext cx="1063500" cy="655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n"/>
              <a:t>Difference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17"/>
          <p:cNvCxnSpPr>
            <a:stCxn id="112" idx="3"/>
            <a:endCxn id="136" idx="1"/>
          </p:cNvCxnSpPr>
          <p:nvPr/>
        </p:nvCxnSpPr>
        <p:spPr>
          <a:xfrm>
            <a:off x="1259100" y="1934350"/>
            <a:ext cx="2481300" cy="6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p17"/>
          <p:cNvCxnSpPr>
            <a:stCxn id="113" idx="0"/>
            <a:endCxn id="136" idx="2"/>
          </p:cNvCxnSpPr>
          <p:nvPr/>
        </p:nvCxnSpPr>
        <p:spPr>
          <a:xfrm rot="-5400000">
            <a:off x="4174200" y="2359925"/>
            <a:ext cx="196200" cy="600"/>
          </a:xfrm>
          <a:prstGeom prst="curvedConnector3">
            <a:avLst>
              <a:gd fmla="val 5000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" name="Google Shape;130;p17"/>
          <p:cNvSpPr/>
          <p:nvPr/>
        </p:nvSpPr>
        <p:spPr>
          <a:xfrm>
            <a:off x="5330600" y="1648000"/>
            <a:ext cx="1168200" cy="572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Change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/>
              <a:t>mask at </a:t>
            </a:r>
            <a:r>
              <a:rPr i="1" lang="en"/>
              <a:t>t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" name="Google Shape;139;p17"/>
          <p:cNvCxnSpPr>
            <a:stCxn id="136" idx="3"/>
            <a:endCxn id="130" idx="1"/>
          </p:cNvCxnSpPr>
          <p:nvPr/>
        </p:nvCxnSpPr>
        <p:spPr>
          <a:xfrm>
            <a:off x="4803760" y="1934350"/>
            <a:ext cx="52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40" name="Google Shape;140;p17"/>
          <p:cNvPicPr preferRelativeResize="0"/>
          <p:nvPr/>
        </p:nvPicPr>
        <p:blipFill rotWithShape="1">
          <a:blip r:embed="rId3">
            <a:alphaModFix/>
          </a:blip>
          <a:srcRect b="3028" l="636" r="70176" t="2346"/>
          <a:stretch/>
        </p:blipFill>
        <p:spPr>
          <a:xfrm>
            <a:off x="166612" y="2233513"/>
            <a:ext cx="1237580" cy="92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/>
          <p:cNvPicPr preferRelativeResize="0"/>
          <p:nvPr/>
        </p:nvPicPr>
        <p:blipFill rotWithShape="1">
          <a:blip r:embed="rId3">
            <a:alphaModFix/>
          </a:blip>
          <a:srcRect b="2687" l="35406" r="35406" t="2687"/>
          <a:stretch/>
        </p:blipFill>
        <p:spPr>
          <a:xfrm>
            <a:off x="3653509" y="3072415"/>
            <a:ext cx="1237580" cy="92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/>
          <p:cNvPicPr preferRelativeResize="0"/>
          <p:nvPr/>
        </p:nvPicPr>
        <p:blipFill rotWithShape="1">
          <a:blip r:embed="rId4">
            <a:alphaModFix/>
          </a:blip>
          <a:srcRect b="2326" l="544" r="77843" t="3494"/>
          <a:stretch/>
        </p:blipFill>
        <p:spPr>
          <a:xfrm>
            <a:off x="5295907" y="684070"/>
            <a:ext cx="1237578" cy="922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/>
          <p:cNvPicPr preferRelativeResize="0"/>
          <p:nvPr/>
        </p:nvPicPr>
        <p:blipFill rotWithShape="1">
          <a:blip r:embed="rId4">
            <a:alphaModFix/>
          </a:blip>
          <a:srcRect b="2473" l="78013" r="638" t="1667"/>
          <a:stretch/>
        </p:blipFill>
        <p:spPr>
          <a:xfrm>
            <a:off x="8084362" y="1548475"/>
            <a:ext cx="1222462" cy="938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/>
          <p:cNvPicPr preferRelativeResize="0"/>
          <p:nvPr/>
        </p:nvPicPr>
        <p:blipFill rotWithShape="1">
          <a:blip r:embed="rId4">
            <a:alphaModFix/>
          </a:blip>
          <a:srcRect b="2415" l="52302" r="26349" t="1716"/>
          <a:stretch/>
        </p:blipFill>
        <p:spPr>
          <a:xfrm>
            <a:off x="7268577" y="1065937"/>
            <a:ext cx="1222462" cy="938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/>
          <p:cNvPicPr preferRelativeResize="0"/>
          <p:nvPr/>
        </p:nvPicPr>
        <p:blipFill rotWithShape="1">
          <a:blip r:embed="rId4">
            <a:alphaModFix/>
          </a:blip>
          <a:srcRect b="2590" l="26437" r="51950" t="3221"/>
          <a:stretch/>
        </p:blipFill>
        <p:spPr>
          <a:xfrm>
            <a:off x="6767337" y="625956"/>
            <a:ext cx="1237578" cy="922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Détail des étapes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Background estimation process</a:t>
            </a:r>
            <a:endParaRPr/>
          </a:p>
        </p:txBody>
      </p:sp>
      <p:sp>
        <p:nvSpPr>
          <p:cNvPr id="156" name="Google Shape;156;p19"/>
          <p:cNvSpPr txBox="1"/>
          <p:nvPr>
            <p:ph idx="1" type="body"/>
          </p:nvPr>
        </p:nvSpPr>
        <p:spPr>
          <a:xfrm>
            <a:off x="311700" y="1152475"/>
            <a:ext cx="5957700" cy="39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b="1" i="1" lang="en"/>
              <a:t>Pixel-wise iterative process, for each frame</a:t>
            </a:r>
            <a:br>
              <a:rPr b="1" i="1" lang="en"/>
            </a:br>
            <a:r>
              <a:rPr i="1" lang="en"/>
              <a:t>(For each pixel position p)</a:t>
            </a:r>
            <a:endParaRPr i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b="1" lang="en"/>
              <a:t>States:</a:t>
            </a:r>
            <a:r>
              <a:rPr lang="en"/>
              <a:t> rs = K reservoir values and weights, randState = 1 rand state</a:t>
            </a:r>
            <a:br>
              <a:rPr lang="en"/>
            </a:br>
            <a:r>
              <a:rPr b="1" lang="en"/>
              <a:t>Init:</a:t>
            </a:r>
            <a:r>
              <a:rPr lang="en"/>
              <a:t> rs[i].w = 0 for all i </a:t>
            </a:r>
            <a:r>
              <a:rPr lang="en"/>
              <a:t>in 0..K-1 </a:t>
            </a:r>
            <a:r>
              <a:rPr lang="en"/>
              <a:t>(performed once for all frames) </a:t>
            </a:r>
            <a:r>
              <a:rPr lang="en">
                <a:solidFill>
                  <a:srgbClr val="FF0000"/>
                </a:solidFill>
              </a:rPr>
              <a:t>(</a:t>
            </a:r>
            <a:r>
              <a:rPr lang="en">
                <a:solidFill>
                  <a:srgbClr val="FF0000"/>
                </a:solidFill>
              </a:rPr>
              <a:t>rs[i].rgb may be random or (0,0,0))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b="1" lang="en"/>
              <a:t>// find matching reservoir</a:t>
            </a:r>
            <a:br>
              <a:rPr lang="en"/>
            </a:br>
            <a:r>
              <a:rPr lang="en"/>
              <a:t>m_</a:t>
            </a:r>
            <a:r>
              <a:rPr lang="en"/>
              <a:t>idx = </a:t>
            </a:r>
            <a:r>
              <a:rPr lang="en">
                <a:solidFill>
                  <a:srgbClr val="FF0000"/>
                </a:solidFill>
              </a:rPr>
              <a:t>find_matching_reservoir</a:t>
            </a:r>
            <a:r>
              <a:rPr lang="en"/>
              <a:t>(p.rgb, rs)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b="1" lang="en"/>
              <a:t>// update weights and samples</a:t>
            </a:r>
            <a:br>
              <a:rPr lang="en"/>
            </a:br>
            <a:r>
              <a:rPr lang="en"/>
              <a:t>i</a:t>
            </a:r>
            <a:r>
              <a:rPr lang="en"/>
              <a:t>f </a:t>
            </a:r>
            <a:r>
              <a:rPr lang="en"/>
              <a:t>m_idx</a:t>
            </a:r>
            <a:r>
              <a:rPr lang="en"/>
              <a:t> != -1 &amp;&amp; </a:t>
            </a:r>
            <a:r>
              <a:rPr lang="en"/>
              <a:t>rs</a:t>
            </a:r>
            <a:r>
              <a:rPr lang="en"/>
              <a:t>[</a:t>
            </a:r>
            <a:r>
              <a:rPr lang="en"/>
              <a:t>m_idx</a:t>
            </a:r>
            <a:r>
              <a:rPr lang="en"/>
              <a:t>].w &gt; 0: </a:t>
            </a:r>
            <a:r>
              <a:rPr b="1" lang="en"/>
              <a:t>// </a:t>
            </a:r>
            <a:r>
              <a:rPr b="1" lang="en"/>
              <a:t>matching</a:t>
            </a:r>
            <a:br>
              <a:rPr lang="en"/>
            </a:br>
            <a:r>
              <a:rPr b="1" lang="en"/>
              <a:t>	</a:t>
            </a:r>
            <a:r>
              <a:rPr lang="en">
                <a:solidFill>
                  <a:srgbClr val="FF0000"/>
                </a:solidFill>
              </a:rPr>
              <a:t>rs[m_idx].w += 1</a:t>
            </a:r>
            <a:br>
              <a:rPr lang="en"/>
            </a:br>
            <a:r>
              <a:rPr lang="en"/>
              <a:t>	rs[m_idx].rgb = ( (rs[m_idx].w-1) *  rs[m_idx].rgb + p.rgb ) / rs[m_idx].w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en"/>
              <a:t>else if m_idx != -1 &amp;&amp; rs[m_idx].w == 0: </a:t>
            </a:r>
            <a:r>
              <a:rPr b="1" lang="en"/>
              <a:t>// empty slot</a:t>
            </a:r>
            <a:br>
              <a:rPr lang="en"/>
            </a:br>
            <a:r>
              <a:rPr lang="en"/>
              <a:t>	rs[m_idx].rgb = p.rgb</a:t>
            </a:r>
            <a:br>
              <a:rPr lang="en"/>
            </a:br>
            <a:r>
              <a:rPr lang="en"/>
              <a:t>	rs[m_idx].w = 1</a:t>
            </a:r>
            <a:br>
              <a:rPr lang="en"/>
            </a:br>
            <a:r>
              <a:rPr lang="en"/>
              <a:t>else: </a:t>
            </a:r>
            <a:r>
              <a:rPr b="1" lang="en"/>
              <a:t>// no match and no empty slot, perform weighted reservoir replacement</a:t>
            </a:r>
            <a:br>
              <a:rPr b="1" lang="en"/>
            </a:br>
            <a:r>
              <a:rPr lang="en"/>
              <a:t>	min_idx = index of the reservoir with the smallest weight</a:t>
            </a:r>
            <a:br>
              <a:rPr lang="en"/>
            </a:br>
            <a:r>
              <a:rPr lang="en"/>
              <a:t>	total_weights = sum of rs[i].w for i in 0..K-1</a:t>
            </a:r>
            <a:br>
              <a:rPr lang="en"/>
            </a:br>
            <a:r>
              <a:rPr lang="en"/>
              <a:t>	if (randfloat * total_weights &gt;= rs[min_idx].w) : replace rs[min_idx].rgb, set w to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b="1" lang="en"/>
              <a:t>// then cap weights to MAX_WEIGHTS</a:t>
            </a:r>
            <a:br>
              <a:rPr b="1" lang="en"/>
            </a:br>
            <a:r>
              <a:rPr lang="en"/>
              <a:t>…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7"/>
              <a:buNone/>
            </a:pPr>
            <a:r>
              <a:rPr b="1" lang="en"/>
              <a:t>// and set the background (value of the pixel to return) to the rgb with max weight</a:t>
            </a:r>
            <a:br>
              <a:rPr b="1" lang="en"/>
            </a:br>
            <a:r>
              <a:rPr lang="en"/>
              <a:t>…</a:t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7009275" y="1465400"/>
            <a:ext cx="281400" cy="281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7290675" y="1465400"/>
            <a:ext cx="281400" cy="28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3</a:t>
            </a:r>
            <a:endParaRPr sz="600"/>
          </a:p>
        </p:txBody>
      </p:sp>
      <p:sp>
        <p:nvSpPr>
          <p:cNvPr id="159" name="Google Shape;159;p19"/>
          <p:cNvSpPr/>
          <p:nvPr/>
        </p:nvSpPr>
        <p:spPr>
          <a:xfrm>
            <a:off x="7261600" y="1785675"/>
            <a:ext cx="281400" cy="2814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7543000" y="1785675"/>
            <a:ext cx="281400" cy="28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2</a:t>
            </a:r>
            <a:endParaRPr sz="600"/>
          </a:p>
        </p:txBody>
      </p:sp>
      <p:sp>
        <p:nvSpPr>
          <p:cNvPr id="161" name="Google Shape;161;p19"/>
          <p:cNvSpPr/>
          <p:nvPr/>
        </p:nvSpPr>
        <p:spPr>
          <a:xfrm>
            <a:off x="7572075" y="2105950"/>
            <a:ext cx="281400" cy="281400"/>
          </a:xfrm>
          <a:prstGeom prst="rect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7853475" y="2105950"/>
            <a:ext cx="281400" cy="28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25</a:t>
            </a:r>
            <a:endParaRPr sz="600"/>
          </a:p>
        </p:txBody>
      </p:sp>
      <p:sp>
        <p:nvSpPr>
          <p:cNvPr id="163" name="Google Shape;163;p19"/>
          <p:cNvSpPr txBox="1"/>
          <p:nvPr/>
        </p:nvSpPr>
        <p:spPr>
          <a:xfrm>
            <a:off x="7009275" y="1237767"/>
            <a:ext cx="281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2"/>
                </a:solidFill>
              </a:rPr>
              <a:t>rgb</a:t>
            </a:r>
            <a:endParaRPr sz="500">
              <a:solidFill>
                <a:schemeClr val="dk2"/>
              </a:solidFill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7290675" y="1237767"/>
            <a:ext cx="281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2"/>
                </a:solidFill>
              </a:rPr>
              <a:t>w</a:t>
            </a:r>
            <a:endParaRPr sz="500">
              <a:solidFill>
                <a:schemeClr val="dk2"/>
              </a:solidFill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6822400" y="776075"/>
            <a:ext cx="15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Last samples and weights </a:t>
            </a:r>
            <a:br>
              <a:rPr lang="en" sz="900">
                <a:solidFill>
                  <a:schemeClr val="dk2"/>
                </a:solidFill>
              </a:rPr>
            </a:br>
            <a:r>
              <a:rPr lang="en" sz="900">
                <a:solidFill>
                  <a:schemeClr val="dk2"/>
                </a:solidFill>
              </a:rPr>
              <a:t>for each pixel position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6650175" y="3522825"/>
            <a:ext cx="2125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Based on “weighted reservoir sampling”, an online sampling algorithm.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6650175" y="2537800"/>
            <a:ext cx="212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↑ alignment optimisation possible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m_idx = </a:t>
            </a:r>
            <a:r>
              <a:rPr lang="en"/>
              <a:t>find_matching_reservoir(p, rs)</a:t>
            </a:r>
            <a:endParaRPr/>
          </a:p>
        </p:txBody>
      </p:sp>
      <p:sp>
        <p:nvSpPr>
          <p:cNvPr id="173" name="Google Shape;17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</a:rPr>
              <a:t>m_idx = -1;</a:t>
            </a:r>
            <a:br>
              <a:rPr lang="en" sz="1200">
                <a:solidFill>
                  <a:srgbClr val="FF0000"/>
                </a:solidFill>
              </a:rPr>
            </a:br>
            <a:r>
              <a:rPr lang="en" sz="1200">
                <a:solidFill>
                  <a:srgbClr val="FF0000"/>
                </a:solidFill>
              </a:rPr>
              <a:t>for every reservoir rs[i] in rs:</a:t>
            </a:r>
            <a:endParaRPr sz="1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</a:rPr>
              <a:t>	</a:t>
            </a:r>
            <a:r>
              <a:rPr lang="en" sz="1200">
                <a:solidFill>
                  <a:srgbClr val="FF0000"/>
                </a:solidFill>
              </a:rPr>
              <a:t>i</a:t>
            </a:r>
            <a:r>
              <a:rPr lang="en" sz="1200">
                <a:solidFill>
                  <a:srgbClr val="FF0000"/>
                </a:solidFill>
              </a:rPr>
              <a:t>f 	</a:t>
            </a:r>
            <a:r>
              <a:rPr lang="en" sz="1200">
                <a:solidFill>
                  <a:srgbClr val="FF0000"/>
                </a:solidFill>
              </a:rPr>
              <a:t>rs[i].w &gt; 0:</a:t>
            </a:r>
            <a:endParaRPr sz="1200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</a:rPr>
              <a:t>	if 	|p.rgb.r - rs[i].rgb.r| &lt; RGB_DIFF_THRESHOLD &amp;&amp;</a:t>
            </a:r>
            <a:br>
              <a:rPr lang="en" sz="1200">
                <a:solidFill>
                  <a:srgbClr val="FF0000"/>
                </a:solidFill>
              </a:rPr>
            </a:br>
            <a:r>
              <a:rPr lang="en" sz="1200">
                <a:solidFill>
                  <a:srgbClr val="FF0000"/>
                </a:solidFill>
              </a:rPr>
              <a:t>		// same for g and b</a:t>
            </a:r>
            <a:endParaRPr sz="1200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</a:rPr>
              <a:t>		</a:t>
            </a:r>
            <a:r>
              <a:rPr lang="en" sz="1200">
                <a:solidFill>
                  <a:srgbClr val="FF0000"/>
                </a:solidFill>
              </a:rPr>
              <a:t>m_idx = i;</a:t>
            </a:r>
            <a:br>
              <a:rPr lang="en" sz="1200">
                <a:solidFill>
                  <a:srgbClr val="FF0000"/>
                </a:solidFill>
              </a:rPr>
            </a:br>
            <a:r>
              <a:rPr lang="en" sz="1200">
                <a:solidFill>
                  <a:srgbClr val="FF0000"/>
                </a:solidFill>
              </a:rPr>
              <a:t>		</a:t>
            </a:r>
            <a:r>
              <a:rPr lang="en" sz="1200" u="sng">
                <a:solidFill>
                  <a:srgbClr val="FF0000"/>
                </a:solidFill>
              </a:rPr>
              <a:t>break</a:t>
            </a:r>
            <a:r>
              <a:rPr lang="en" sz="1200">
                <a:solidFill>
                  <a:srgbClr val="FF0000"/>
                </a:solidFill>
              </a:rPr>
              <a:t>;  // equivalent to return i;</a:t>
            </a:r>
            <a:endParaRPr sz="1200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</a:rPr>
              <a:t>else:</a:t>
            </a:r>
            <a:br>
              <a:rPr lang="en" sz="1200">
                <a:solidFill>
                  <a:srgbClr val="FF0000"/>
                </a:solidFill>
              </a:rPr>
            </a:br>
            <a:r>
              <a:rPr lang="en" sz="1200">
                <a:solidFill>
                  <a:srgbClr val="FF0000"/>
                </a:solidFill>
              </a:rPr>
              <a:t>	m_idx = i;</a:t>
            </a:r>
            <a:endParaRPr sz="1200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</a:rPr>
              <a:t>	</a:t>
            </a:r>
            <a:endParaRPr sz="1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FF0000"/>
                </a:solidFill>
              </a:rPr>
              <a:t>r</a:t>
            </a:r>
            <a:r>
              <a:rPr lang="en" sz="1200" u="sng">
                <a:solidFill>
                  <a:srgbClr val="FF0000"/>
                </a:solidFill>
              </a:rPr>
              <a:t>eturn</a:t>
            </a:r>
            <a:r>
              <a:rPr lang="en" sz="1200">
                <a:solidFill>
                  <a:srgbClr val="FF0000"/>
                </a:solidFill>
              </a:rPr>
              <a:t> m_idx;</a:t>
            </a:r>
            <a:endParaRPr sz="1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</a:rPr>
              <a:t>→ find first matching reservoir or empty reservoir if no match, or -1 if no empty reservoir</a:t>
            </a:r>
            <a:endParaRPr sz="1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💡 </a:t>
            </a:r>
            <a:r>
              <a:rPr i="1" lang="en" sz="1200"/>
              <a:t>Be careful</a:t>
            </a:r>
            <a:r>
              <a:rPr i="1" lang="en" sz="1200"/>
              <a:t> when computing the difference with unsigned integers</a:t>
            </a:r>
            <a:r>
              <a:rPr i="1" lang="en" sz="1200">
                <a:solidFill>
                  <a:srgbClr val="FF0000"/>
                </a:solidFill>
              </a:rPr>
              <a:t>: cast them to signed integer first!</a:t>
            </a:r>
            <a:endParaRPr i="1" sz="1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random number generators</a:t>
            </a:r>
            <a:endParaRPr/>
          </a:p>
        </p:txBody>
      </p:sp>
      <p:sp>
        <p:nvSpPr>
          <p:cNvPr id="179" name="Google Shape;17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need to maintain a random state for each pixel position.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" sz="14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Image</a:t>
            </a:r>
            <a:r>
              <a:rPr lang="en" sz="14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4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curandState</a:t>
            </a:r>
            <a:r>
              <a:rPr lang="en" sz="14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4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rng_states;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states are initialized using a kernel which calls </a:t>
            </a:r>
            <a:br>
              <a:rPr lang="en"/>
            </a:br>
            <a:r>
              <a:rPr lang="en" sz="160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curand_init</a:t>
            </a:r>
            <a:r>
              <a:rPr lang="en" sz="16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(seed, global_pixel_pos, </a:t>
            </a:r>
            <a:r>
              <a:rPr lang="en" sz="1600">
                <a:solidFill>
                  <a:srgbClr val="B5CEA8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6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6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" sz="160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randState_row</a:t>
            </a:r>
            <a:r>
              <a:rPr lang="en" sz="16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[x]</a:t>
            </a:r>
            <a:r>
              <a:rPr lang="en" sz="16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br>
              <a:rPr lang="en"/>
            </a:br>
            <a:r>
              <a:rPr lang="en"/>
              <a:t>for each position.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states are updated when later drawing a random number using </a:t>
            </a:r>
            <a:br>
              <a:rPr lang="en"/>
            </a:br>
            <a:r>
              <a:rPr lang="en" sz="1600">
                <a:solidFill>
                  <a:srgbClr val="569CD6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lang="en" sz="16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rand_val </a:t>
            </a:r>
            <a:r>
              <a:rPr lang="en" sz="16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6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DCDCAA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curand_uniform</a:t>
            </a:r>
            <a:r>
              <a:rPr lang="en" sz="16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600">
                <a:solidFill>
                  <a:srgbClr val="D4D4D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" sz="1600">
                <a:solidFill>
                  <a:srgbClr val="9CDCF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randState_row</a:t>
            </a:r>
            <a:r>
              <a:rPr lang="en" sz="16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[x]);</a:t>
            </a:r>
            <a:endParaRPr sz="160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(0 ≤ rand_val ≤ 1)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2. Mask cleaning process overview</a:t>
            </a:r>
            <a:endParaRPr/>
          </a:p>
        </p:txBody>
      </p:sp>
      <p:sp>
        <p:nvSpPr>
          <p:cNvPr id="185" name="Google Shape;185;p22"/>
          <p:cNvSpPr txBox="1"/>
          <p:nvPr/>
        </p:nvSpPr>
        <p:spPr>
          <a:xfrm>
            <a:off x="311700" y="1001200"/>
            <a:ext cx="1521300" cy="831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 du masque de mouvement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2410404" y="1109050"/>
            <a:ext cx="1866300" cy="615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Suppression 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 bruit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4586558" y="1216750"/>
            <a:ext cx="2024700" cy="4002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Seuillage d’hystérésis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6954101" y="1216750"/>
            <a:ext cx="1866300" cy="4002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Masquage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25" y="1815975"/>
            <a:ext cx="8839203" cy="15118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p22"/>
          <p:cNvCxnSpPr>
            <a:stCxn id="185" idx="3"/>
            <a:endCxn id="186" idx="1"/>
          </p:cNvCxnSpPr>
          <p:nvPr/>
        </p:nvCxnSpPr>
        <p:spPr>
          <a:xfrm>
            <a:off x="1833000" y="1416850"/>
            <a:ext cx="57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1" name="Google Shape;191;p22"/>
          <p:cNvCxnSpPr>
            <a:stCxn id="186" idx="3"/>
            <a:endCxn id="187" idx="1"/>
          </p:cNvCxnSpPr>
          <p:nvPr/>
        </p:nvCxnSpPr>
        <p:spPr>
          <a:xfrm>
            <a:off x="4276704" y="1416850"/>
            <a:ext cx="30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2" name="Google Shape;192;p22"/>
          <p:cNvCxnSpPr>
            <a:stCxn id="187" idx="3"/>
            <a:endCxn id="188" idx="1"/>
          </p:cNvCxnSpPr>
          <p:nvPr/>
        </p:nvCxnSpPr>
        <p:spPr>
          <a:xfrm>
            <a:off x="6611258" y="1416850"/>
            <a:ext cx="34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3" name="Google Shape;193;p22"/>
          <p:cNvSpPr txBox="1"/>
          <p:nvPr/>
        </p:nvSpPr>
        <p:spPr>
          <a:xfrm>
            <a:off x="2410250" y="3503075"/>
            <a:ext cx="1866300" cy="15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Ouverture morphologique par un </a:t>
            </a:r>
            <a:r>
              <a:rPr b="0" i="1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disque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rayon 3.</a:t>
            </a:r>
            <a:b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taille du rayon doit être ajusté à la taille de l’image.</a:t>
            </a:r>
            <a:endParaRPr b="0" i="1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4665750" y="3503075"/>
            <a:ext cx="1866300" cy="13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Seuillage d’hystérésis.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Seuil bas: 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Seuil haut: 30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valeur de seuil dépend de l’espace colorimétrique.</a:t>
            </a:r>
            <a:endParaRPr b="0" i="1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6921250" y="3503075"/>
            <a:ext cx="217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+ 0.5 * red * masque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139200" y="3503075"/>
            <a:ext cx="1866300" cy="15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Résultat du processus précédent.</a:t>
            </a:r>
            <a:b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C’est une carte qui indique pour chaque pixel un score de mouvement ≥ 0.</a:t>
            </a:r>
            <a:endParaRPr b="0" i="1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2.1 Suppression du bruit</a:t>
            </a:r>
            <a:endParaRPr/>
          </a:p>
        </p:txBody>
      </p:sp>
      <p:sp>
        <p:nvSpPr>
          <p:cNvPr id="202" name="Google Shape;202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100"/>
              <a:t>Ouverture morphologique (érosion suivi d’une dilatation)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https://en.wikipedia.org/wiki/Mathematical_morphology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https://en.wikipedia.org/wiki/Opening_(morphology)</a:t>
            </a:r>
            <a:endParaRPr sz="1100"/>
          </a:p>
        </p:txBody>
      </p:sp>
      <p:pic>
        <p:nvPicPr>
          <p:cNvPr id="203" name="Google Shape;20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0550" y="1580125"/>
            <a:ext cx="3607551" cy="134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3"/>
          <p:cNvPicPr preferRelativeResize="0"/>
          <p:nvPr/>
        </p:nvPicPr>
        <p:blipFill rotWithShape="1">
          <a:blip r:embed="rId6">
            <a:alphaModFix/>
          </a:blip>
          <a:srcRect b="0" l="0" r="50758" t="0"/>
          <a:stretch/>
        </p:blipFill>
        <p:spPr>
          <a:xfrm>
            <a:off x="4791425" y="0"/>
            <a:ext cx="4352574" cy="151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3"/>
          <p:cNvSpPr/>
          <p:nvPr/>
        </p:nvSpPr>
        <p:spPr>
          <a:xfrm>
            <a:off x="6497325" y="582275"/>
            <a:ext cx="868500" cy="39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Erosion: </a:t>
            </a:r>
            <a:br>
              <a:rPr lang="en" sz="1100"/>
            </a:br>
            <a:r>
              <a:rPr lang="en" sz="1100"/>
              <a:t>new value for p(x,y) = </a:t>
            </a:r>
            <a:r>
              <a:rPr b="1" lang="en" sz="1100"/>
              <a:t>min</a:t>
            </a:r>
            <a:r>
              <a:rPr lang="en" sz="1100"/>
              <a:t> value in neighborhood of p(x,y)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" sz="1100"/>
              <a:t>Dilation:</a:t>
            </a:r>
            <a:br>
              <a:rPr lang="en" sz="1100"/>
            </a:br>
            <a:r>
              <a:rPr lang="en" sz="1100"/>
              <a:t>new value for p(x,y) = </a:t>
            </a:r>
            <a:r>
              <a:rPr b="1" lang="en" sz="1100"/>
              <a:t>max</a:t>
            </a:r>
            <a:r>
              <a:rPr lang="en" sz="1100"/>
              <a:t> value in neighborhood of p(x,y)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2.2. Seuillage d’hystérésis</a:t>
            </a:r>
            <a:endParaRPr/>
          </a:p>
        </p:txBody>
      </p:sp>
      <p:pic>
        <p:nvPicPr>
          <p:cNvPr id="212" name="Google Shape;21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100" y="3095613"/>
            <a:ext cx="8105775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4"/>
          <p:cNvPicPr preferRelativeResize="0"/>
          <p:nvPr/>
        </p:nvPicPr>
        <p:blipFill rotWithShape="1">
          <a:blip r:embed="rId4">
            <a:alphaModFix/>
          </a:blip>
          <a:srcRect b="0" l="25762" r="24995" t="0"/>
          <a:stretch/>
        </p:blipFill>
        <p:spPr>
          <a:xfrm>
            <a:off x="4791425" y="0"/>
            <a:ext cx="4352574" cy="151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4"/>
          <p:cNvSpPr/>
          <p:nvPr/>
        </p:nvSpPr>
        <p:spPr>
          <a:xfrm>
            <a:off x="6497325" y="582275"/>
            <a:ext cx="868500" cy="39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4"/>
          <p:cNvSpPr txBox="1"/>
          <p:nvPr>
            <p:ph idx="1" type="body"/>
          </p:nvPr>
        </p:nvSpPr>
        <p:spPr>
          <a:xfrm>
            <a:off x="311700" y="1152475"/>
            <a:ext cx="4530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Principe 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Supprimer les signaux faibles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Propager les signaux forts </a:t>
            </a:r>
            <a:br>
              <a:rPr lang="en"/>
            </a:br>
            <a:r>
              <a:rPr lang="en"/>
              <a:t>vers les signaux moyens</a:t>
            </a:r>
            <a:endParaRPr/>
          </a:p>
        </p:txBody>
      </p:sp>
      <p:cxnSp>
        <p:nvCxnSpPr>
          <p:cNvPr id="216" name="Google Shape;216;p24"/>
          <p:cNvCxnSpPr/>
          <p:nvPr/>
        </p:nvCxnSpPr>
        <p:spPr>
          <a:xfrm>
            <a:off x="4934850" y="2552350"/>
            <a:ext cx="361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17" name="Google Shape;217;p24"/>
          <p:cNvSpPr txBox="1"/>
          <p:nvPr/>
        </p:nvSpPr>
        <p:spPr>
          <a:xfrm>
            <a:off x="4551450" y="2434450"/>
            <a:ext cx="3834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endParaRPr b="0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8" name="Google Shape;218;p24"/>
          <p:cNvGrpSpPr/>
          <p:nvPr/>
        </p:nvGrpSpPr>
        <p:grpSpPr>
          <a:xfrm>
            <a:off x="5046450" y="1645050"/>
            <a:ext cx="3445200" cy="1120800"/>
            <a:chOff x="5046450" y="1645050"/>
            <a:chExt cx="3445200" cy="1120800"/>
          </a:xfrm>
        </p:grpSpPr>
        <p:cxnSp>
          <p:nvCxnSpPr>
            <p:cNvPr id="219" name="Google Shape;219;p24"/>
            <p:cNvCxnSpPr/>
            <p:nvPr/>
          </p:nvCxnSpPr>
          <p:spPr>
            <a:xfrm rot="10800000">
              <a:off x="5046450" y="1645050"/>
              <a:ext cx="0" cy="112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0" name="Google Shape;220;p24"/>
            <p:cNvCxnSpPr/>
            <p:nvPr/>
          </p:nvCxnSpPr>
          <p:spPr>
            <a:xfrm>
              <a:off x="5046450" y="2765850"/>
              <a:ext cx="3445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cxnSp>
        <p:nvCxnSpPr>
          <p:cNvPr id="221" name="Google Shape;221;p24"/>
          <p:cNvCxnSpPr/>
          <p:nvPr/>
        </p:nvCxnSpPr>
        <p:spPr>
          <a:xfrm>
            <a:off x="4934850" y="2159325"/>
            <a:ext cx="361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22" name="Google Shape;222;p24"/>
          <p:cNvSpPr txBox="1"/>
          <p:nvPr/>
        </p:nvSpPr>
        <p:spPr>
          <a:xfrm>
            <a:off x="4522275" y="2041425"/>
            <a:ext cx="4125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p24"/>
          <p:cNvCxnSpPr/>
          <p:nvPr/>
        </p:nvCxnSpPr>
        <p:spPr>
          <a:xfrm>
            <a:off x="5061000" y="2120475"/>
            <a:ext cx="6210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4" name="Google Shape;224;p24"/>
          <p:cNvSpPr txBox="1"/>
          <p:nvPr/>
        </p:nvSpPr>
        <p:spPr>
          <a:xfrm>
            <a:off x="5086350" y="1698275"/>
            <a:ext cx="5703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marker</a:t>
            </a:r>
            <a:endParaRPr b="0" i="0" sz="9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5056150" y="1950479"/>
            <a:ext cx="3600450" cy="739075"/>
          </a:xfrm>
          <a:custGeom>
            <a:rect b="b" l="l" r="r" t="t"/>
            <a:pathLst>
              <a:path extrusionOk="0" h="29563" w="144018">
                <a:moveTo>
                  <a:pt x="0" y="5053"/>
                </a:moveTo>
                <a:cubicBezTo>
                  <a:pt x="2953" y="2693"/>
                  <a:pt x="7637" y="4781"/>
                  <a:pt x="11258" y="3695"/>
                </a:cubicBezTo>
                <a:cubicBezTo>
                  <a:pt x="14090" y="2846"/>
                  <a:pt x="16665" y="-896"/>
                  <a:pt x="19410" y="201"/>
                </a:cubicBezTo>
                <a:cubicBezTo>
                  <a:pt x="24976" y="2426"/>
                  <a:pt x="23636" y="12907"/>
                  <a:pt x="29114" y="15340"/>
                </a:cubicBezTo>
                <a:cubicBezTo>
                  <a:pt x="33727" y="17389"/>
                  <a:pt x="39873" y="12641"/>
                  <a:pt x="44254" y="15146"/>
                </a:cubicBezTo>
                <a:cubicBezTo>
                  <a:pt x="45384" y="15792"/>
                  <a:pt x="44738" y="18324"/>
                  <a:pt x="46001" y="18640"/>
                </a:cubicBezTo>
                <a:cubicBezTo>
                  <a:pt x="54070" y="20656"/>
                  <a:pt x="62474" y="9898"/>
                  <a:pt x="70262" y="12817"/>
                </a:cubicBezTo>
                <a:cubicBezTo>
                  <a:pt x="73176" y="13909"/>
                  <a:pt x="68137" y="19432"/>
                  <a:pt x="69680" y="22134"/>
                </a:cubicBezTo>
                <a:cubicBezTo>
                  <a:pt x="72464" y="27009"/>
                  <a:pt x="79223" y="29939"/>
                  <a:pt x="84820" y="29509"/>
                </a:cubicBezTo>
                <a:cubicBezTo>
                  <a:pt x="89568" y="29144"/>
                  <a:pt x="89008" y="19991"/>
                  <a:pt x="93360" y="18058"/>
                </a:cubicBezTo>
                <a:cubicBezTo>
                  <a:pt x="97952" y="16018"/>
                  <a:pt x="103167" y="22061"/>
                  <a:pt x="108111" y="21163"/>
                </a:cubicBezTo>
                <a:cubicBezTo>
                  <a:pt x="114691" y="19967"/>
                  <a:pt x="119709" y="12079"/>
                  <a:pt x="126356" y="12817"/>
                </a:cubicBezTo>
                <a:cubicBezTo>
                  <a:pt x="130761" y="13306"/>
                  <a:pt x="135438" y="16228"/>
                  <a:pt x="137419" y="20193"/>
                </a:cubicBezTo>
                <a:cubicBezTo>
                  <a:pt x="138377" y="22111"/>
                  <a:pt x="136937" y="24737"/>
                  <a:pt x="138001" y="26598"/>
                </a:cubicBezTo>
                <a:cubicBezTo>
                  <a:pt x="139080" y="28486"/>
                  <a:pt x="141843" y="29121"/>
                  <a:pt x="144018" y="2912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6" name="Google Shape;226;p24"/>
          <p:cNvCxnSpPr/>
          <p:nvPr/>
        </p:nvCxnSpPr>
        <p:spPr>
          <a:xfrm>
            <a:off x="5677250" y="2120475"/>
            <a:ext cx="1169400" cy="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7" name="Google Shape;227;p24"/>
          <p:cNvCxnSpPr/>
          <p:nvPr/>
        </p:nvCxnSpPr>
        <p:spPr>
          <a:xfrm>
            <a:off x="7375650" y="2120475"/>
            <a:ext cx="11694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8" name="Google Shape;228;p24"/>
          <p:cNvCxnSpPr/>
          <p:nvPr/>
        </p:nvCxnSpPr>
        <p:spPr>
          <a:xfrm>
            <a:off x="6819600" y="2120475"/>
            <a:ext cx="5949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9" name="Google Shape;229;p24"/>
          <p:cNvCxnSpPr/>
          <p:nvPr/>
        </p:nvCxnSpPr>
        <p:spPr>
          <a:xfrm>
            <a:off x="8549850" y="2120475"/>
            <a:ext cx="3444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0" name="Google Shape;230;p24"/>
          <p:cNvSpPr txBox="1"/>
          <p:nvPr/>
        </p:nvSpPr>
        <p:spPr>
          <a:xfrm>
            <a:off x="6831900" y="1698275"/>
            <a:ext cx="5703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b="0" i="0" sz="9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8525375" y="1698275"/>
            <a:ext cx="5703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b="0" i="0" sz="9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4"/>
          <p:cNvSpPr txBox="1"/>
          <p:nvPr/>
        </p:nvSpPr>
        <p:spPr>
          <a:xfrm>
            <a:off x="5893725" y="1698275"/>
            <a:ext cx="7011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activate</a:t>
            </a:r>
            <a:endParaRPr b="0" i="0" sz="9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7675200" y="1698275"/>
            <a:ext cx="5703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b="0" i="0" sz="9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2.2. Implémentation de la reconstruction d'hystérésis</a:t>
            </a:r>
            <a:endParaRPr/>
          </a:p>
        </p:txBody>
      </p:sp>
      <p:sp>
        <p:nvSpPr>
          <p:cNvPr id="239" name="Google Shape;239;p25"/>
          <p:cNvSpPr txBox="1"/>
          <p:nvPr>
            <p:ph idx="1" type="body"/>
          </p:nvPr>
        </p:nvSpPr>
        <p:spPr>
          <a:xfrm>
            <a:off x="311700" y="1152475"/>
            <a:ext cx="2901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Idée: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"/>
              <a:t>On propage les pixels des marqueurs dans le masque jusqu’à stabilité.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"/>
              <a:t>Les marqueurs sont initialisés avec les éléments supérieurs au seuil haut.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lang="en"/>
              <a:t>L’entrée contient tous les éléments supérieurs au seuil bas.</a:t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4448025" y="977975"/>
            <a:ext cx="4469700" cy="43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5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__device__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85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has_changed;</a:t>
            </a:r>
            <a:endParaRPr b="0" i="0" sz="85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5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__global__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85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850" u="none" cap="none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reconstruction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" sz="850" u="none" cap="none" strike="noStrike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850" u="none" cap="none" strike="noStrike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marker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850" u="none" cap="none" strike="noStrike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0" i="0" sz="85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" sz="85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 = .... + </a:t>
            </a:r>
            <a:r>
              <a:rPr b="0" i="0" lang="en" sz="85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threadIdx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.x;</a:t>
            </a:r>
            <a:endParaRPr b="0" i="0" sz="85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" sz="850" u="none" cap="none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0" i="0" lang="en" sz="850" u="none" cap="none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[p] || !</a:t>
            </a:r>
            <a:r>
              <a:rPr b="0" i="0" lang="en" sz="850" u="none" cap="none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[p])</a:t>
            </a:r>
            <a:r>
              <a:rPr b="0" i="0" lang="en" sz="850" u="none" cap="none" strike="noStrike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// already processed or too low</a:t>
            </a:r>
            <a:endParaRPr b="0" i="0" sz="850" u="none" cap="none" strike="noStrike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0" lang="en" sz="850" u="none" cap="none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85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" sz="850" u="none" cap="none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0" i="0" lang="en" sz="850" u="none" cap="none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marker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[p]) {</a:t>
            </a:r>
            <a:r>
              <a:rPr b="0" i="0" lang="en" sz="850" u="none" cap="none" strike="noStrike">
                <a:solidFill>
                  <a:srgbClr val="38761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// initialize output with markers</a:t>
            </a:r>
            <a:endParaRPr b="0" i="0" sz="85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0" lang="en" sz="850" u="none" cap="none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[p] = </a:t>
            </a:r>
            <a:r>
              <a:rPr b="0" i="0" lang="en" sz="85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85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has_changed = </a:t>
            </a:r>
            <a:r>
              <a:rPr b="0" i="0" lang="en" sz="85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85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0" lang="en" sz="850" u="none" cap="none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85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85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" sz="850" u="none" cap="none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0" i="0" lang="en" sz="85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q : </a:t>
            </a:r>
            <a:r>
              <a:rPr b="0" i="0" lang="en" sz="850" u="none" cap="none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neighbors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(p)) </a:t>
            </a:r>
            <a:r>
              <a:rPr b="0" i="0" lang="en" sz="850" u="none" cap="none" strike="noStrike">
                <a:solidFill>
                  <a:srgbClr val="38761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// Is any of my neighbors active?</a:t>
            </a:r>
            <a:endParaRPr b="0" i="0" sz="85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0" i="0" lang="en" sz="850" u="none" cap="none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0" i="0" lang="en" sz="850" u="none" cap="none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[q]) { </a:t>
            </a:r>
            <a:r>
              <a:rPr b="0" i="0" lang="en" sz="850" u="none" cap="none" strike="noStrike">
                <a:solidFill>
                  <a:srgbClr val="38761D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// propagate neighbor activation to me</a:t>
            </a:r>
            <a:endParaRPr b="0" i="0" sz="85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0" i="0" lang="en" sz="850" u="none" cap="none" strike="noStrike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[p] = </a:t>
            </a:r>
            <a:r>
              <a:rPr b="0" i="0" lang="en" sz="85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85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has_changed = </a:t>
            </a:r>
            <a:r>
              <a:rPr b="0" i="0" lang="en" sz="85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85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}</a:t>
            </a:r>
            <a:endParaRPr b="0" i="0" sz="85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5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5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850" u="none" cap="none" strike="noStrike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b="0" i="0" sz="85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out = black_image;</a:t>
            </a:r>
            <a:endParaRPr b="0" i="0" sz="85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has_changed = false;</a:t>
            </a:r>
            <a:endParaRPr b="0" i="0" sz="85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" sz="850" u="none" cap="none" strike="noStrike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(has_changed)</a:t>
            </a:r>
            <a:endParaRPr b="0" i="0" sz="85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reconstruction&lt;&lt;&lt;&gt;&gt;&gt;(input, marker, out);</a:t>
            </a:r>
            <a:endParaRPr b="0" i="0" sz="85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5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850" u="none" cap="none" strike="noStrike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t/>
            </a:r>
            <a:endParaRPr b="0" i="0" sz="850" u="none" cap="none" strike="noStrike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Matériel fourni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Code gstreamer</a:t>
            </a:r>
            <a:endParaRPr/>
          </a:p>
        </p:txBody>
      </p:sp>
      <p:sp>
        <p:nvSpPr>
          <p:cNvPr id="251" name="Google Shape;251;p27"/>
          <p:cNvSpPr txBox="1"/>
          <p:nvPr>
            <p:ph idx="1" type="body"/>
          </p:nvPr>
        </p:nvSpPr>
        <p:spPr>
          <a:xfrm>
            <a:off x="311700" y="1152475"/>
            <a:ext cx="8520600" cy="14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Code de base fourni sur Moodle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Vous devez implémenter un filtre GStreamer CUDA et CPP</a:t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400"/>
              <a:t>Idéalement, en intégrant les paramètres suivants :</a:t>
            </a:r>
            <a:endParaRPr sz="1400"/>
          </a:p>
        </p:txBody>
      </p:sp>
      <p:sp>
        <p:nvSpPr>
          <p:cNvPr id="252" name="Google Shape;252;p27"/>
          <p:cNvSpPr txBox="1"/>
          <p:nvPr/>
        </p:nvSpPr>
        <p:spPr>
          <a:xfrm>
            <a:off x="541100" y="2966925"/>
            <a:ext cx="7343100" cy="80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bg=uri          	     : uri vers une image de fond (default="" =&gt; estimé)</a:t>
            </a:r>
            <a:endParaRPr b="0" i="0" sz="1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opening_size=(int)     : taille de l'ouverture</a:t>
            </a:r>
            <a:endParaRPr b="0" i="0" sz="1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th_low=(int)    	     : valeur basse du filtre (default=3)</a:t>
            </a:r>
            <a:endParaRPr b="0" i="0" sz="1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th_high=(int)   	     : valeur haute du filtre (default=30)</a:t>
            </a:r>
            <a:endParaRPr b="0" i="0" sz="1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3" name="Google Shape;253;p27"/>
          <p:cNvSpPr txBox="1"/>
          <p:nvPr/>
        </p:nvSpPr>
        <p:spPr>
          <a:xfrm>
            <a:off x="541100" y="4152225"/>
            <a:ext cx="7343100" cy="64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bg_sampling_rate=(int)  : intervalle d'échantillonnage des frames pour l'estimation de fond                   (default=500ms)</a:t>
            </a:r>
            <a:endParaRPr b="0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bg_number_frame=(int)   : nombre de frames utilisées pour l'estimation de fond (default=10)</a:t>
            </a:r>
            <a:endParaRPr b="0" i="0" sz="1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Demo</a:t>
            </a:r>
            <a:endParaRPr/>
          </a:p>
        </p:txBody>
      </p:sp>
      <p:pic>
        <p:nvPicPr>
          <p:cNvPr id="259" name="Google Shape;259;p28" title="sintel_trailer-480p.webm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52400"/>
            <a:ext cx="3692825" cy="276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8" title="sintel_trailer-480p-p.mp4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90900" y="152400"/>
            <a:ext cx="4572000" cy="27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8"/>
          <p:cNvSpPr txBox="1"/>
          <p:nvPr/>
        </p:nvSpPr>
        <p:spPr>
          <a:xfrm>
            <a:off x="199700" y="3213925"/>
            <a:ext cx="7869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gst-launch-1.0 uridecodebin uri=file:///tmp/sintel_trailer-480p.webm ! videoconvert ! "video/x-raw, format=(string)RGB" ! </a:t>
            </a:r>
            <a:r>
              <a:rPr b="0" i="0" lang="en" sz="90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cudafilter</a:t>
            </a:r>
            <a:r>
              <a:rPr b="0" i="0" lang="en" sz="9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! videoconvert ! video/x-raw, format=I420 ! x264enc ! mp4mux ! filesink location=video.mp4</a:t>
            </a:r>
            <a:endParaRPr b="0" i="0" sz="9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Attendus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Critères d’évaluation</a:t>
            </a:r>
            <a:endParaRPr/>
          </a:p>
        </p:txBody>
      </p:sp>
      <p:sp>
        <p:nvSpPr>
          <p:cNvPr id="272" name="Google Shape;272;p30"/>
          <p:cNvSpPr txBox="1"/>
          <p:nvPr>
            <p:ph idx="1" type="body"/>
          </p:nvPr>
        </p:nvSpPr>
        <p:spPr>
          <a:xfrm>
            <a:off x="311700" y="1152475"/>
            <a:ext cx="8520600" cy="12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Code correct</a:t>
            </a:r>
            <a:r>
              <a:rPr lang="en"/>
              <a:t> ⇒ résultats ACCEPTABLES au niveau qualitatif</a:t>
            </a:r>
            <a:br>
              <a:rPr lang="en"/>
            </a:br>
            <a:r>
              <a:rPr i="1" lang="en"/>
              <a:t>Avec cette méthode, les résultats ne seront pas optimaux</a:t>
            </a:r>
            <a:endParaRPr i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Vitesse</a:t>
            </a:r>
            <a:r>
              <a:rPr lang="en"/>
              <a:t> ⇒ plus le framerate est rapide, mieux c’est.</a:t>
            </a:r>
            <a:endParaRPr/>
          </a:p>
        </p:txBody>
      </p:sp>
      <p:sp>
        <p:nvSpPr>
          <p:cNvPr id="273" name="Google Shape;273;p30"/>
          <p:cNvSpPr txBox="1"/>
          <p:nvPr>
            <p:ph type="title"/>
          </p:nvPr>
        </p:nvSpPr>
        <p:spPr>
          <a:xfrm>
            <a:off x="311700" y="2654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Conseils</a:t>
            </a:r>
            <a:endParaRPr/>
          </a:p>
        </p:txBody>
      </p:sp>
      <p:sp>
        <p:nvSpPr>
          <p:cNvPr id="274" name="Google Shape;274;p30"/>
          <p:cNvSpPr txBox="1"/>
          <p:nvPr>
            <p:ph idx="1" type="body"/>
          </p:nvPr>
        </p:nvSpPr>
        <p:spPr>
          <a:xfrm>
            <a:off x="311700" y="3362275"/>
            <a:ext cx="85206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/>
              <a:t>Avoir une version C++ fonctionnelle </a:t>
            </a:r>
            <a:r>
              <a:rPr lang="en"/>
              <a:t>⇒ baseline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/>
              <a:t>Git tag des versions du programme </a:t>
            </a:r>
            <a:r>
              <a:rPr lang="en"/>
              <a:t>⇒ permet de mesurer plusieurs versions/optimisations du programme (+ conserver variantes pour comparaison)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/>
              <a:t>Faire les optimisations une par une</a:t>
            </a:r>
            <a:r>
              <a:rPr lang="en"/>
              <a:t> ⇒ permet d’évaluer les optimisations réellement significatives de façon individuelle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Livrables</a:t>
            </a:r>
            <a:endParaRPr/>
          </a:p>
        </p:txBody>
      </p:sp>
      <p:sp>
        <p:nvSpPr>
          <p:cNvPr id="280" name="Google Shape;28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n"/>
              <a:t>1. Implémentation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Source code for C++ CPU reference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Source code for CUDA implementation(s)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Source code for benchmark tools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Build scripts (GNU Make, CMake…)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9999"/>
              <a:buNone/>
            </a:pPr>
            <a:r>
              <a:rPr lang="en"/>
              <a:t>Nous devons être capables de reproduire vos résultats.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9999"/>
              <a:buNone/>
            </a:pPr>
            <a:r>
              <a:rPr lang="en"/>
              <a:t>2. Rapport succinct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Description du sujet (choix pour chaque étape, ce qui a été implémenté sur GPU)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Répartition des tâches par membre du groupe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Benchmarks et graphiques des performances des versions (CPU + GPU + GPU Optimisé ##)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Analyse des performances et des bottlenecks (graphiques nsight / nvprof)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9999"/>
              <a:buNone/>
            </a:pPr>
            <a:r>
              <a:rPr lang="en"/>
              <a:t>3. Slides de la soutenance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59999"/>
              <a:buNone/>
            </a:pPr>
            <a:r>
              <a:rPr lang="en"/>
              <a:t>4. Répartition des groupes (sur Moodle) =&gt; </a:t>
            </a:r>
            <a:r>
              <a:rPr lang="en">
                <a:highlight>
                  <a:schemeClr val="accent6"/>
                </a:highlight>
              </a:rPr>
              <a:t>aujourd’hui</a:t>
            </a:r>
            <a:r>
              <a:rPr lang="en">
                <a:highlight>
                  <a:schemeClr val="accent6"/>
                </a:highlight>
              </a:rPr>
              <a:t> à la fin du TP (pour les affectations de soutenance) </a:t>
            </a:r>
            <a:endParaRPr>
              <a:highlight>
                <a:schemeClr val="accent6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Soutenances</a:t>
            </a:r>
            <a:endParaRPr/>
          </a:p>
        </p:txBody>
      </p:sp>
      <p:sp>
        <p:nvSpPr>
          <p:cNvPr id="286" name="Google Shape;28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15’ présentation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5’ démo </a:t>
            </a:r>
            <a:br>
              <a:rPr lang="en"/>
            </a:br>
            <a:r>
              <a:rPr lang="en"/>
              <a:t>→ </a:t>
            </a:r>
            <a:r>
              <a:rPr i="1" lang="en"/>
              <a:t>Données: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https://drive.google.com/drive/folders/1pAisI_mfdfXrkEqK-8xU-gblRENLs85l</a:t>
            </a:r>
            <a:r>
              <a:rPr lang="en"/>
              <a:t>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5’ discussion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Soutenances sur Teams. Les liens vous seront envoyés la semaine précédente.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Projet par groupe de 4.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Tous les membres du groupe doivent être présents à la soutenance.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Vous devez rendre </a:t>
            </a:r>
            <a:r>
              <a:rPr b="1" lang="en" u="sng"/>
              <a:t>tous</a:t>
            </a:r>
            <a:r>
              <a:rPr lang="en"/>
              <a:t> les fichiers </a:t>
            </a:r>
            <a:r>
              <a:rPr lang="en">
                <a:highlight>
                  <a:srgbClr val="FFFF00"/>
                </a:highlight>
              </a:rPr>
              <a:t>le 17 déc. au soir</a:t>
            </a:r>
            <a:r>
              <a:rPr lang="en"/>
              <a:t>.</a:t>
            </a:r>
            <a:endParaRPr/>
          </a:p>
        </p:txBody>
      </p:sp>
      <p:sp>
        <p:nvSpPr>
          <p:cNvPr id="287" name="Google Shape;287;p32"/>
          <p:cNvSpPr txBox="1"/>
          <p:nvPr/>
        </p:nvSpPr>
        <p:spPr>
          <a:xfrm>
            <a:off x="5666825" y="246150"/>
            <a:ext cx="33411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lang="en" sz="4300">
                <a:solidFill>
                  <a:srgbClr val="FF0000"/>
                </a:solidFill>
              </a:rPr>
              <a:t>18 et 19 déc</a:t>
            </a:r>
            <a:endParaRPr b="0" i="0" sz="4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